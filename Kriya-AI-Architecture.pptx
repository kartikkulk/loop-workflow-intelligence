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E8ECF1"/>
                </a:solidFill>
                <a:latin typeface="Helvetica Neue"/>
              </a:rPr>
              <a:t>Kriyā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0B981"/>
                </a:solidFill>
                <a:latin typeface="Helvetica Neue"/>
              </a:rPr>
              <a:t>From Repetitive Work to Intelligent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B96A8"/>
                </a:solidFill>
                <a:latin typeface="Helvetica Neue"/>
              </a:rPr>
              <a:t>Discovers the work people repeat from how it was actually performed,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8B96A8"/>
                </a:solidFill>
                <a:latin typeface="Helvetica Neue"/>
              </a:rPr>
              <a:t>chooses the right automation technology, builds it — and waits for approval.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7688"/>
                </a:solidFill>
                <a:latin typeface="Helvetica Neue"/>
              </a:rPr>
              <a:t>TECHNICAL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828032"/>
            <a:ext cx="2011680" cy="182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Helvetica Neue"/>
              </a:rPr>
              <a:t>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CF1"/>
                </a:solidFill>
                <a:latin typeface="Helvetica Neue"/>
              </a:rPr>
              <a:t>Seven stages, one human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B96A8"/>
                </a:solidFill>
                <a:latin typeface="Helvetica Neue"/>
              </a:rPr>
              <a:t>Detection is a pure function of the event log. Nothing downstream of the log is authoritative.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417320" cy="150876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50292" cy="1508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ECF1"/>
                </a:solidFill>
                <a:latin typeface="Helvetica Neue"/>
              </a:rPr>
              <a:t>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42032"/>
            <a:ext cx="112471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Browser collector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CSV / JSONL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3075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688"/>
                </a:solidFill>
                <a:latin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2263" y="276148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6856" y="2148840"/>
            <a:ext cx="1417320" cy="150876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76856" y="2148840"/>
            <a:ext cx="50292" cy="1508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9736" y="2267712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ECF1"/>
                </a:solidFill>
                <a:latin typeface="Helvetica Neue"/>
              </a:rPr>
              <a:t>DISCOVER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9736" y="2542032"/>
            <a:ext cx="112471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Sessionise → cluster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sequence + semantic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9736" y="373075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688"/>
                </a:solidFill>
                <a:latin typeface="Helvetica Neu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76148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67912" y="2148840"/>
            <a:ext cx="1417320" cy="150876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67912" y="2148840"/>
            <a:ext cx="50292" cy="1508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2" y="2267712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ECF1"/>
                </a:solidFill>
                <a:latin typeface="Helvetica Neue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2" y="2542032"/>
            <a:ext cx="112471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Occurrences, similarity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hours/year, variables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2" y="373075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688"/>
                </a:solidFill>
                <a:latin typeface="Helvetica Neue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276148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58968" y="2148840"/>
            <a:ext cx="1417320" cy="150876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58968" y="2148840"/>
            <a:ext cx="50292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41848" y="2267712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ECF1"/>
                </a:solidFill>
                <a:latin typeface="Helvetica Neue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2542032"/>
            <a:ext cx="112471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Pick runtime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Generate artifact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373075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688"/>
                </a:solidFill>
                <a:latin typeface="Helvetica Neue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1" y="276148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50024" y="2148840"/>
            <a:ext cx="1417320" cy="150876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50024" y="2148840"/>
            <a:ext cx="50292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2904" y="2267712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ECF1"/>
                </a:solidFill>
                <a:latin typeface="Helvetica Neue"/>
              </a:rPr>
              <a:t>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2904" y="2542032"/>
            <a:ext cx="112471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9 checks vs the log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Dry run, 0 side effects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2904" y="373075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688"/>
                </a:solidFill>
                <a:latin typeface="Helvetica Neue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6488" y="276148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41080" y="2148840"/>
            <a:ext cx="1417320" cy="150876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2148840"/>
            <a:ext cx="50292" cy="1508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3959" y="2267712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ECF1"/>
                </a:solidFill>
                <a:latin typeface="Helvetica Neue"/>
              </a:rPr>
              <a:t>APPROVE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59" y="2542032"/>
            <a:ext cx="112471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Human decision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Nothing runs before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59" y="373075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688"/>
                </a:solidFill>
                <a:latin typeface="Helvetica Neue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67544" y="276148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32136" y="2148840"/>
            <a:ext cx="1417320" cy="150876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232136" y="2148840"/>
            <a:ext cx="50292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15015" y="2267712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ECF1"/>
                </a:solidFill>
                <a:latin typeface="Helvetica Neue"/>
              </a:rPr>
              <a:t>AUTOMATE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15015" y="2542032"/>
            <a:ext cx="112471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Execute + measure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Auto-demote on drift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15015" y="373075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688"/>
                </a:solidFill>
                <a:latin typeface="Helvetica Neue"/>
              </a:rPr>
              <a:t>07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4343400"/>
            <a:ext cx="10817352" cy="86868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4517136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Helvetica Neue"/>
              </a:rPr>
              <a:t>Promotion is manual.  Demotion is automatic.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4828032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6A8"/>
                </a:solidFill>
                <a:latin typeface="Helvetica Neue"/>
              </a:rPr>
              <a:t>A system that waits for permission to become safer is not a safety mechanism.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Helvetica Neue"/>
              </a:rPr>
              <a:t>STAGE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CF1"/>
                </a:solidFill>
                <a:latin typeface="Helvetica Neue"/>
              </a:rPr>
              <a:t>Detection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B96A8"/>
                </a:solidFill>
                <a:latin typeface="Helvetica Neue"/>
              </a:rPr>
              <a:t>Every source normalises into one canonical event stream, so a CSV and a live collector are indistinguishable downstream.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2377440" cy="676656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50292" cy="67665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21991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8ECF1"/>
                </a:solidFill>
                <a:latin typeface="Helvetica Neue"/>
              </a:rPr>
              <a:t>Browser collector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96312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metadata only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values never 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9503"/>
            <a:ext cx="2377440" cy="676656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889503"/>
            <a:ext cx="50292" cy="67665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08375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8ECF1"/>
                </a:solidFill>
                <a:latin typeface="Helvetica Neue"/>
              </a:rPr>
              <a:t>CSV / JSONL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82696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column names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matched loosely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75887"/>
            <a:ext cx="2377440" cy="676656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675887"/>
            <a:ext cx="50292" cy="67665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94759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8ECF1"/>
                </a:solidFill>
                <a:latin typeface="Helvetica Neue"/>
              </a:rPr>
              <a:t>Connected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69079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OAuth, read-only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6324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2395728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03320" y="2395728"/>
            <a:ext cx="50292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2514600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8ECF1"/>
                </a:solidFill>
                <a:latin typeface="Helvetica Neue"/>
              </a:rPr>
              <a:t>normaliser.py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788920"/>
            <a:ext cx="1536192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canonical events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app : action : object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279806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33288" y="2395728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33288" y="2395728"/>
            <a:ext cx="50292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16168" y="2514600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8ECF1"/>
                </a:solidFill>
                <a:latin typeface="Helvetica Neue"/>
              </a:rPr>
              <a:t>sessioniser.py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16168" y="2788920"/>
            <a:ext cx="1536192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split on idle gap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or declared 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1" y="279806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63256" y="2395728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63256" y="2395728"/>
            <a:ext cx="50292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46136" y="2514600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8ECF1"/>
                </a:solidFill>
                <a:latin typeface="Helvetica Neue"/>
              </a:rPr>
              <a:t>clustering.py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46136" y="2788920"/>
            <a:ext cx="1536192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exact hash, then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fuzzy + embedding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79806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93224" y="2395728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93224" y="2395728"/>
            <a:ext cx="50292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76104" y="2514600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8ECF1"/>
                </a:solidFill>
                <a:latin typeface="Helvetica Neue"/>
              </a:rPr>
              <a:t>scoring.py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76104" y="2788920"/>
            <a:ext cx="1536192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variance, effort,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automatability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35204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03320" y="3931920"/>
            <a:ext cx="7799831" cy="123444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03320" y="3931920"/>
            <a:ext cx="50292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6200" y="4050791"/>
            <a:ext cx="75072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ECF1"/>
                </a:solidFill>
                <a:latin typeface="Helvetica Neue"/>
              </a:rPr>
              <a:t>variables.py  —  inputs vs constants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6200" y="4325112"/>
            <a:ext cx="750722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Fields that change run to run become automation inputs:  {{customer}}  {{issue}}  {{ticket}}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A field identical on every run is a condition the work was performed under — that is where a guard comes from.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Decided from counts, not from a model: a model cannot know if 'High' was the point or a coincidence.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Helvetica Neue"/>
              </a:rPr>
              <a:t>STAGE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CF1"/>
                </a:solidFill>
                <a:latin typeface="Helvetica Neue"/>
              </a:rPr>
              <a:t>Choosing how to automate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B96A8"/>
                </a:solidFill>
                <a:latin typeface="Helvetica Neue"/>
              </a:rPr>
              <a:t>The planner decides from the systems the work actually touches — not from a preference.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3200400" cy="896112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50292" cy="89611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21991"/>
            <a:ext cx="2907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ECF1"/>
                </a:solidFill>
                <a:latin typeface="Helvetica Neue"/>
              </a:rPr>
              <a:t>Browser portal → Jira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37743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03120"/>
            <a:ext cx="3108960" cy="896112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103120"/>
            <a:ext cx="50292" cy="896112"/>
          </a:xfrm>
          <a:prstGeom prst="rect">
            <a:avLst/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21991"/>
            <a:ext cx="2816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8ECF1"/>
                </a:solidFill>
                <a:latin typeface="Helvetica Neue"/>
              </a:rPr>
              <a:t>LOOP decides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96312"/>
            <a:ext cx="28163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no API on the portal;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Jira has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37743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103120"/>
            <a:ext cx="3502152" cy="896112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103120"/>
            <a:ext cx="50292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2221991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ECF1"/>
                </a:solidFill>
                <a:latin typeface="Helvetica Neue"/>
              </a:rPr>
              <a:t>HYBRID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496312"/>
            <a:ext cx="32095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Playwright + Jira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45535"/>
            <a:ext cx="3200400" cy="896112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145535"/>
            <a:ext cx="50292" cy="89611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64407"/>
            <a:ext cx="2907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ECF1"/>
                </a:solidFill>
                <a:latin typeface="Helvetica Neue"/>
              </a:rPr>
              <a:t>PDF → extract → Jira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419855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145535"/>
            <a:ext cx="3108960" cy="896112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145535"/>
            <a:ext cx="50292" cy="896112"/>
          </a:xfrm>
          <a:prstGeom prst="rect">
            <a:avLst/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264407"/>
            <a:ext cx="2816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8ECF1"/>
                </a:solidFill>
                <a:latin typeface="Helvetica Neue"/>
              </a:rPr>
              <a:t>LOOP decides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538727"/>
            <a:ext cx="28163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local document work,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then one API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3419855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3145535"/>
            <a:ext cx="3502152" cy="896112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1000" y="3145535"/>
            <a:ext cx="50292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3264407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ECF1"/>
                </a:solidFill>
                <a:latin typeface="Helvetica Neue"/>
              </a:rPr>
              <a:t>PYTHON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3538727"/>
            <a:ext cx="32095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Script + Jira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187952"/>
            <a:ext cx="3200400" cy="896112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4187952"/>
            <a:ext cx="50292" cy="89611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306824"/>
            <a:ext cx="2907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ECF1"/>
                </a:solidFill>
                <a:latin typeface="Helvetica Neue"/>
              </a:rPr>
              <a:t>Webhook → transform → Jira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46227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4187952"/>
            <a:ext cx="3108960" cy="896112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20" y="4187952"/>
            <a:ext cx="50292" cy="896112"/>
          </a:xfrm>
          <a:prstGeom prst="rect">
            <a:avLst/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4306824"/>
            <a:ext cx="2816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8ECF1"/>
                </a:solidFill>
                <a:latin typeface="Helvetica Neue"/>
              </a:rPr>
              <a:t>LOOP decides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581144"/>
            <a:ext cx="28163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every step is an API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n8n already speaks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446227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0" y="4187952"/>
            <a:ext cx="3502152" cy="896112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01000" y="4187952"/>
            <a:ext cx="50292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79" y="4306824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ECF1"/>
                </a:solidFill>
                <a:latin typeface="Helvetica Neue"/>
              </a:rPr>
              <a:t>N8N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4581144"/>
            <a:ext cx="32095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Node graph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5230368"/>
            <a:ext cx="3200400" cy="896112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5800" y="5230368"/>
            <a:ext cx="50292" cy="89611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349240"/>
            <a:ext cx="2907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ECF1"/>
                </a:solidFill>
                <a:latin typeface="Helvetica Neue"/>
              </a:rPr>
              <a:t>Portal only, no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550468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89120" y="5230368"/>
            <a:ext cx="3108960" cy="896112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89120" y="5230368"/>
            <a:ext cx="50292" cy="896112"/>
          </a:xfrm>
          <a:prstGeom prst="rect">
            <a:avLst/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0" y="5349240"/>
            <a:ext cx="2816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8ECF1"/>
                </a:solidFill>
                <a:latin typeface="Helvetica Neue"/>
              </a:rPr>
              <a:t>LOOP decides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623559"/>
            <a:ext cx="28163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clicking is the only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8B96A8"/>
                </a:solidFill>
                <a:latin typeface="Helvetica Neue"/>
              </a:rPr>
              <a:t>way 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43800" y="550468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01000" y="5230368"/>
            <a:ext cx="3502152" cy="896112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01000" y="5230368"/>
            <a:ext cx="50292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83879" y="5349240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ECF1"/>
                </a:solidFill>
                <a:latin typeface="Helvetica Neue"/>
              </a:rPr>
              <a:t>BROWSER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3879" y="5623559"/>
            <a:ext cx="32095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Playwright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Helvetica Neue"/>
              </a:rPr>
              <a:t>STAGE 5–6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CF1"/>
                </a:solidFill>
                <a:latin typeface="Helvetica Neue"/>
              </a:rPr>
              <a:t>Why it is safe to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B96A8"/>
                </a:solidFill>
                <a:latin typeface="Helvetica Neue"/>
              </a:rPr>
              <a:t>Guarantees enforced by structure, not by configuration a deployment could get wrong.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10817352" cy="859536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50292" cy="85953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21991"/>
            <a:ext cx="10524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ECF1"/>
                </a:solidFill>
                <a:latin typeface="Helvetica Neue"/>
              </a:rPr>
              <a:t>Mocks forced in the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96312"/>
            <a:ext cx="10524744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replay and shadow force mock connectors inside the engine, so a new connector cannot forget to be safe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817352" cy="859536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072384"/>
            <a:ext cx="50292" cy="85953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91256"/>
            <a:ext cx="10524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ECF1"/>
                </a:solidFill>
                <a:latin typeface="Helvetica Neue"/>
              </a:rPr>
              <a:t>Guards are not eval()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65576"/>
            <a:ext cx="10524744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a restricted comparator evaluates guard expressions; flow definitions are partly model-written, so they are untrusted 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41648"/>
            <a:ext cx="10817352" cy="859536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041648"/>
            <a:ext cx="50292" cy="85953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10524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ECF1"/>
                </a:solidFill>
                <a:latin typeface="Helvetica Neue"/>
              </a:rPr>
              <a:t>The log is the source of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10524744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every connector, step and guard is checked against observed activity — an invented system is reported, not accepted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010912"/>
            <a:ext cx="10817352" cy="859536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5010912"/>
            <a:ext cx="50292" cy="85953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29784"/>
            <a:ext cx="10524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ECF1"/>
                </a:solidFill>
                <a:latin typeface="Helvetica Neue"/>
              </a:rPr>
              <a:t>Observed guards are preserved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04104"/>
            <a:ext cx="10524744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a condition true on every recorded run is kept; a model that drops it is caught by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6053328"/>
            <a:ext cx="10817352" cy="54864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18134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9E0B"/>
                </a:solidFill>
                <a:latin typeface="Helvetica Neue"/>
              </a:rPr>
              <a:t>Dry run verified on the deployed system:  3/3 steps  ·  side effects performed: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Helvetica Neue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CF1"/>
                </a:solidFill>
                <a:latin typeface="Helvetica Neue"/>
              </a:rPr>
              <a:t>Running on Google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B96A8"/>
                </a:solidFill>
                <a:latin typeface="Helvetica Neue"/>
              </a:rPr>
              <a:t>Three Cloud Run services in asia-south1, one managed database, scale-to-zero where it is safe 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50292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CF1"/>
                </a:solidFill>
                <a:latin typeface="Helvetica Neue"/>
              </a:rPr>
              <a:t>loop-web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42032"/>
            <a:ext cx="299923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Next.js 15 console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+ landing page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scales to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69748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14884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148840"/>
            <a:ext cx="50292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267712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CF1"/>
                </a:solidFill>
                <a:latin typeface="Helvetica Neue"/>
              </a:rPr>
              <a:t>loop-api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42032"/>
            <a:ext cx="299923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FastAPI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detection + planner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+ code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69748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148840"/>
            <a:ext cx="3136392" cy="137160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2148840"/>
            <a:ext cx="50292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2267712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CF1"/>
                </a:solidFill>
                <a:latin typeface="Helvetica Neue"/>
              </a:rPr>
              <a:t>loop-n8n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542032"/>
            <a:ext cx="28437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executes approved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workflows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always warm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6118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B7688"/>
                </a:solidFill>
                <a:latin typeface="Helvetica Neue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4041648"/>
            <a:ext cx="6217920" cy="96012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0" y="4041648"/>
            <a:ext cx="50292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4160520"/>
            <a:ext cx="5925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ECF1"/>
                </a:solidFill>
                <a:latin typeface="Helvetica Neue"/>
              </a:rPr>
              <a:t>Cloud SQL —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434840"/>
            <a:ext cx="59253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One database per signed-in person, created on first use. Isolation is the connection, not a filter a query could forget.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57800"/>
            <a:ext cx="10817352" cy="96012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13248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0B981"/>
                </a:solidFill>
                <a:latin typeface="Helvetica Neue"/>
              </a:rPr>
              <a:t>Measured on the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ECF1"/>
                </a:solidFill>
                <a:latin typeface="Helvetica Neue"/>
              </a:rPr>
              <a:t>CSV upload → discovery: 0.06 s          n8n API: 0.17 s          278 tests green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Helvetica Neue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CF1"/>
                </a:solidFill>
                <a:latin typeface="Helvetica Neue"/>
              </a:rPr>
              <a:t>The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B96A8"/>
                </a:solidFill>
                <a:latin typeface="Helvetica Neue"/>
              </a:rPr>
              <a:t>Chosen so the product runs with no model, no keys and no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578608" cy="182880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50292" cy="1828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CF1"/>
                </a:solidFill>
                <a:latin typeface="Helvetica Neue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42032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Python 3.11 · FastAPI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SQLAlchemy 2.0 async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Postgres / SQLite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SSE for live updates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148840"/>
            <a:ext cx="2578608" cy="182880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2148840"/>
            <a:ext cx="50292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22677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CF1"/>
                </a:solidFill>
                <a:latin typeface="Helvetica Neue"/>
              </a:rPr>
              <a:t>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542032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scikit-learn · rapidfuzz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TF-IDF character n-grams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no GPU, no torch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2148840"/>
            <a:ext cx="2578608" cy="182880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2148840"/>
            <a:ext cx="50292" cy="1828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22677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CF1"/>
                </a:solidFill>
                <a:latin typeface="Helvetica Neue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542032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Next.js 15 App Router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TypeScript strict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Tailwind · TanStack Query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0264" y="2148840"/>
            <a:ext cx="2578608" cy="182880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70264" y="2148840"/>
            <a:ext cx="50292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22677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CF1"/>
                </a:solidFill>
                <a:latin typeface="Helvetica Neue"/>
              </a:rPr>
              <a:t>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2542032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Local model via Ollama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OpenAI as fallback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deterministic path for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Helvetica Neue"/>
              </a:rPr>
              <a:t>every single call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43400"/>
            <a:ext cx="10817352" cy="1371600"/>
          </a:xfrm>
          <a:prstGeom prst="roundRect">
            <a:avLst>
              <a:gd name="adj" fmla="val 8000"/>
            </a:avLst>
          </a:prstGeom>
          <a:solidFill>
            <a:srgbClr val="11141A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262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0B981"/>
                </a:solidFill>
                <a:latin typeface="Helvetica Neue"/>
              </a:rPr>
              <a:t>The design decision that matters most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6A8"/>
                </a:solidFill>
                <a:latin typeface="Helvetica Neue"/>
              </a:rPr>
              <a:t>Every AI call has a deterministic fallback. With no model installed the product runs end to end —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6A8"/>
                </a:solidFill>
                <a:latin typeface="Helvetica Neue"/>
              </a:rPr>
              <a:t>the prose is plainer and the numbers are identical. That is what makes it demonstrable anywhere,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6A8"/>
                </a:solidFill>
                <a:latin typeface="Helvetica Neue"/>
              </a:rPr>
              <a:t>and what stops a model outage becoming an outage.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